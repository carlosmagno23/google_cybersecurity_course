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"/>
  </p:notesMasterIdLst>
  <p:sldIdLst>
    <p:sldId id="256" r:id="rId2"/>
  </p:sldIdLst>
  <p:sldSz cx="10799763" cy="6943725"/>
  <p:notesSz cx="6858000" cy="9144000"/>
  <p:embeddedFontLst>
    <p:embeddedFont>
      <p:font typeface="Google Sans" panose="020B0604020202020204" charset="0"/>
      <p:regular r:id="rId4"/>
      <p:bold r:id="rId5"/>
      <p:italic r:id="rId6"/>
      <p:boldItalic r:id="rId7"/>
    </p:embeddedFont>
    <p:embeddedFont>
      <p:font typeface="Roboto" panose="02000000000000000000" pitchFamily="2" charset="0"/>
      <p:regular r:id="rId8"/>
      <p:bold r:id="rId9"/>
      <p:italic r:id="rId10"/>
      <p:boldItalic r:id="rId1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73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73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73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73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73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73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73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73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73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87" userDrawn="1">
          <p15:clr>
            <a:srgbClr val="747775"/>
          </p15:clr>
        </p15:guide>
        <p15:guide id="2" pos="3402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950" autoAdjust="0"/>
  </p:normalViewPr>
  <p:slideViewPr>
    <p:cSldViewPr snapToGrid="0">
      <p:cViewPr>
        <p:scale>
          <a:sx n="118" d="100"/>
          <a:sy n="118" d="100"/>
        </p:scale>
        <p:origin x="-2640" y="-1098"/>
      </p:cViewPr>
      <p:guideLst>
        <p:guide orient="horz" pos="2187"/>
        <p:guide pos="340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openxmlformats.org/officeDocument/2006/relationships/viewProps" Target="viewProps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font" Target="fonts/font8.fntdata"/><Relationship Id="rId5" Type="http://schemas.openxmlformats.org/officeDocument/2006/relationships/font" Target="fonts/font2.fntdata"/><Relationship Id="rId15" Type="http://schemas.openxmlformats.org/officeDocument/2006/relationships/tableStyles" Target="tableStyles.xml"/><Relationship Id="rId10" Type="http://schemas.openxmlformats.org/officeDocument/2006/relationships/font" Target="fonts/font7.fntdata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762000" y="685800"/>
            <a:ext cx="5334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73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73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73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73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73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73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73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73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73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762000" y="685800"/>
            <a:ext cx="5334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68151" y="1005176"/>
            <a:ext cx="10063480" cy="277101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68142" y="3826069"/>
            <a:ext cx="10063480" cy="107001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10006620" y="6295343"/>
            <a:ext cx="648057" cy="53136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68142" y="2903648"/>
            <a:ext cx="10063480" cy="113643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10006620" y="6295343"/>
            <a:ext cx="648057" cy="53136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68142" y="600784"/>
            <a:ext cx="10063480" cy="7731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68142" y="1555841"/>
            <a:ext cx="10063480" cy="46121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0006620" y="6295343"/>
            <a:ext cx="648057" cy="53136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68142" y="600784"/>
            <a:ext cx="10063480" cy="7731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68141" y="1555841"/>
            <a:ext cx="4724188" cy="46121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5707434" y="1555841"/>
            <a:ext cx="4724188" cy="46121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10006620" y="6295343"/>
            <a:ext cx="648057" cy="53136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68142" y="600784"/>
            <a:ext cx="10063480" cy="7731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10006620" y="6295343"/>
            <a:ext cx="648057" cy="53136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68141" y="750060"/>
            <a:ext cx="3316463" cy="102019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68141" y="1875960"/>
            <a:ext cx="3316463" cy="429219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10006620" y="6295343"/>
            <a:ext cx="648057" cy="53136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579023" y="607703"/>
            <a:ext cx="7520859" cy="55225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10006620" y="6295343"/>
            <a:ext cx="648057" cy="53136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5399881" y="-169"/>
            <a:ext cx="5399882" cy="6943725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739"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313576" y="1664786"/>
            <a:ext cx="4777690" cy="200110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313576" y="3784151"/>
            <a:ext cx="4777690" cy="166738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5833927" y="977501"/>
            <a:ext cx="4531790" cy="498838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10006620" y="6295343"/>
            <a:ext cx="648057" cy="53136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68142" y="5711276"/>
            <a:ext cx="7085041" cy="81688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10006620" y="6295343"/>
            <a:ext cx="648057" cy="53136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68142" y="1493269"/>
            <a:ext cx="10063480" cy="265072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68142" y="4255504"/>
            <a:ext cx="10063480" cy="17560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10006620" y="6295343"/>
            <a:ext cx="648057" cy="53136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10006620" y="6295343"/>
            <a:ext cx="648057" cy="53136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68142" y="600784"/>
            <a:ext cx="10063480" cy="773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68142" y="1555841"/>
            <a:ext cx="10063480" cy="4612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0006620" y="6295343"/>
            <a:ext cx="648057" cy="531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3944867" y="457143"/>
            <a:ext cx="6137597" cy="5887509"/>
          </a:xfrm>
          <a:prstGeom prst="ellipse">
            <a:avLst/>
          </a:prstGeom>
          <a:solidFill>
            <a:srgbClr val="E6B8AF">
              <a:alpha val="38750"/>
            </a:srgbClr>
          </a:solidFill>
          <a:ln w="28575" cap="flat" cmpd="sng">
            <a:solidFill>
              <a:srgbClr val="EA999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grpSp>
        <p:nvGrpSpPr>
          <p:cNvPr id="55" name="Google Shape;55;p13"/>
          <p:cNvGrpSpPr/>
          <p:nvPr/>
        </p:nvGrpSpPr>
        <p:grpSpPr>
          <a:xfrm>
            <a:off x="535626" y="457198"/>
            <a:ext cx="6137541" cy="5887455"/>
            <a:chOff x="2986712" y="1676962"/>
            <a:chExt cx="1854000" cy="1854000"/>
          </a:xfrm>
        </p:grpSpPr>
        <p:sp>
          <p:nvSpPr>
            <p:cNvPr id="56" name="Google Shape;56;p13"/>
            <p:cNvSpPr/>
            <p:nvPr/>
          </p:nvSpPr>
          <p:spPr>
            <a:xfrm>
              <a:off x="2986712" y="1676962"/>
              <a:ext cx="1854000" cy="1854000"/>
            </a:xfrm>
            <a:prstGeom prst="ellipse">
              <a:avLst/>
            </a:prstGeom>
            <a:solidFill>
              <a:srgbClr val="DEE7F2">
                <a:alpha val="64709"/>
              </a:srgbClr>
            </a:solidFill>
            <a:ln w="28575" cap="flat" cmpd="sng">
              <a:solidFill>
                <a:srgbClr val="A1C3F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57" name="Google Shape;57;p13"/>
            <p:cNvSpPr txBox="1"/>
            <p:nvPr/>
          </p:nvSpPr>
          <p:spPr>
            <a:xfrm>
              <a:off x="3606964" y="1824201"/>
              <a:ext cx="613500" cy="29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" sz="1700" b="1" dirty="0">
                  <a:solidFill>
                    <a:schemeClr val="dk1"/>
                  </a:solidFill>
                  <a:latin typeface="Google Sans"/>
                  <a:ea typeface="Google Sans"/>
                  <a:cs typeface="Google Sans"/>
                  <a:sym typeface="Google Sans"/>
                </a:rPr>
                <a:t>Wireshark</a:t>
              </a:r>
              <a:endParaRPr sz="1700" b="1" dirty="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endParaRPr>
            </a:p>
          </p:txBody>
        </p:sp>
      </p:grpSp>
      <p:sp>
        <p:nvSpPr>
          <p:cNvPr id="58" name="Google Shape;58;p13"/>
          <p:cNvSpPr txBox="1"/>
          <p:nvPr/>
        </p:nvSpPr>
        <p:spPr>
          <a:xfrm>
            <a:off x="6633780" y="995634"/>
            <a:ext cx="1244127" cy="8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115000"/>
              </a:lnSpc>
            </a:pPr>
            <a:r>
              <a:rPr lang="en" sz="1700" b="1" dirty="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Tcpdump</a:t>
            </a:r>
            <a:endParaRPr sz="1700" b="1" dirty="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4743031" y="1165603"/>
            <a:ext cx="1120200" cy="4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lnSpc>
                <a:spcPct val="115000"/>
              </a:lnSpc>
            </a:pPr>
            <a:r>
              <a:rPr lang="en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Similarities</a:t>
            </a:r>
            <a:endParaRPr sz="1000" dirty="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" name="Google Shape;60;p13"/>
          <p:cNvSpPr txBox="1"/>
          <p:nvPr/>
        </p:nvSpPr>
        <p:spPr>
          <a:xfrm>
            <a:off x="4634203" y="2736488"/>
            <a:ext cx="1229028" cy="452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" name="Google Shape;61;p13"/>
          <p:cNvSpPr txBox="1"/>
          <p:nvPr/>
        </p:nvSpPr>
        <p:spPr>
          <a:xfrm>
            <a:off x="844062" y="1929094"/>
            <a:ext cx="3174333" cy="2715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30200" indent="-171450">
              <a:lnSpc>
                <a:spcPct val="115000"/>
              </a:lnSpc>
              <a:buClr>
                <a:schemeClr val="dk1"/>
              </a:buClr>
              <a:buSzPts val="1100"/>
              <a:buFont typeface="Wingdings" panose="05000000000000000000" pitchFamily="2" charset="2"/>
              <a:buChar char="§"/>
            </a:pPr>
            <a:r>
              <a:rPr lang="pt-BR" sz="11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Interface: </a:t>
            </a:r>
            <a:r>
              <a:rPr lang="pt-BR" sz="1100" dirty="0" err="1">
                <a:effectLst/>
                <a:latin typeface="Segoe UI Web (West European)"/>
              </a:rPr>
              <a:t>Graphical</a:t>
            </a:r>
            <a:r>
              <a:rPr lang="pt-BR" sz="1100" dirty="0">
                <a:effectLst/>
                <a:latin typeface="Segoe UI Web (West European)"/>
              </a:rPr>
              <a:t> Interface(GUI) </a:t>
            </a:r>
            <a:r>
              <a:rPr lang="pt-BR" sz="1100" b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Visualization</a:t>
            </a:r>
            <a:r>
              <a:rPr lang="pt-BR" sz="11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Displays packets in windows, with layered decoding</a:t>
            </a:r>
            <a:endParaRPr lang="pt-BR" sz="11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30200" lvl="4" indent="-171450">
              <a:lnSpc>
                <a:spcPct val="115000"/>
              </a:lnSpc>
              <a:buClr>
                <a:schemeClr val="dk1"/>
              </a:buClr>
              <a:buSzPts val="1100"/>
              <a:buFont typeface="Wingdings" panose="05000000000000000000" pitchFamily="2" charset="2"/>
              <a:buChar char="§"/>
            </a:pPr>
            <a:r>
              <a:rPr lang="pt-BR" sz="1100" b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Level</a:t>
            </a:r>
            <a:r>
              <a:rPr lang="pt-BR" sz="11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pt-BR" sz="1100" b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of</a:t>
            </a:r>
            <a:r>
              <a:rPr lang="pt-BR" sz="11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pt-BR" sz="1100" b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detail</a:t>
            </a:r>
            <a:r>
              <a:rPr lang="pt-BR" sz="11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Very high (decodes protocols and displays hierarchically).</a:t>
            </a:r>
            <a:endParaRPr lang="pt-BR" sz="11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30200" indent="-171450">
              <a:lnSpc>
                <a:spcPct val="115000"/>
              </a:lnSpc>
              <a:buClr>
                <a:schemeClr val="dk1"/>
              </a:buClr>
              <a:buSzPts val="1100"/>
              <a:buFont typeface="Wingdings" panose="05000000000000000000" pitchFamily="2" charset="2"/>
              <a:buChar char="§"/>
            </a:pPr>
            <a:r>
              <a:rPr lang="pt-BR" sz="11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Post-capture </a:t>
            </a:r>
            <a:r>
              <a:rPr lang="pt-BR" sz="1100" b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analysis</a:t>
            </a:r>
            <a:r>
              <a:rPr lang="en-US" sz="11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Extensive: </a:t>
            </a:r>
            <a:r>
              <a:rPr lang="en-US" sz="11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graphics,Statistics</a:t>
            </a: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rebuilding streams</a:t>
            </a:r>
            <a:r>
              <a:rPr lang="pt-BR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330200" indent="-171450">
              <a:lnSpc>
                <a:spcPct val="115000"/>
              </a:lnSpc>
              <a:buClr>
                <a:schemeClr val="dk1"/>
              </a:buClr>
              <a:buSzPts val="1100"/>
              <a:buFont typeface="Wingdings" panose="05000000000000000000" pitchFamily="2" charset="2"/>
              <a:buChar char="§"/>
            </a:pPr>
            <a:r>
              <a:rPr lang="pt-BR" sz="11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Capture </a:t>
            </a:r>
            <a:r>
              <a:rPr lang="pt-BR" sz="1100" b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filter</a:t>
            </a:r>
            <a:r>
              <a:rPr lang="pt-BR" sz="11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Beyond GMP filters</a:t>
            </a:r>
            <a:b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+ More complex display filters.</a:t>
            </a:r>
          </a:p>
          <a:p>
            <a:pPr marL="330200" indent="-171450">
              <a:lnSpc>
                <a:spcPct val="115000"/>
              </a:lnSpc>
              <a:buClr>
                <a:schemeClr val="dk1"/>
              </a:buClr>
              <a:buSzPts val="1100"/>
              <a:buFont typeface="Wingdings" panose="05000000000000000000" pitchFamily="2" charset="2"/>
              <a:buChar char="§"/>
            </a:pPr>
            <a:r>
              <a:rPr lang="en-US" sz="11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Performance: </a:t>
            </a: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Heavier, consumes 
     more CPU and memory.</a:t>
            </a:r>
          </a:p>
          <a:p>
            <a:pPr marL="330200" indent="-171450">
              <a:lnSpc>
                <a:spcPct val="115000"/>
              </a:lnSpc>
              <a:buClr>
                <a:schemeClr val="dk1"/>
              </a:buClr>
              <a:buSzPts val="1100"/>
              <a:buFont typeface="Wingdings" panose="05000000000000000000" pitchFamily="2" charset="2"/>
              <a:buChar char="§"/>
            </a:pPr>
            <a:r>
              <a:rPr lang="pt-BR" sz="1100" b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Typical</a:t>
            </a:r>
            <a:r>
              <a:rPr lang="pt-BR" sz="11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use: </a:t>
            </a: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Deep visual analysis,
     network teaching and debugging.</a:t>
            </a:r>
            <a:endParaRPr lang="pt-BR" sz="11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" name="Google Shape;62;p13"/>
          <p:cNvSpPr txBox="1"/>
          <p:nvPr/>
        </p:nvSpPr>
        <p:spPr>
          <a:xfrm>
            <a:off x="4387523" y="1906579"/>
            <a:ext cx="1958686" cy="21313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74320" indent="-292100">
              <a:lnSpc>
                <a:spcPct val="115000"/>
              </a:lnSpc>
              <a:buClr>
                <a:schemeClr val="dk1"/>
              </a:buClr>
              <a:buSzPts val="1000"/>
              <a:buFont typeface="Roboto"/>
              <a:buChar char="●"/>
            </a:pPr>
            <a:r>
              <a:rPr lang="en-US" sz="10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Both use the .</a:t>
            </a:r>
            <a:r>
              <a:rPr lang="en-US" sz="10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pcap</a:t>
            </a:r>
            <a:r>
              <a:rPr lang="en-US" sz="10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(or .</a:t>
            </a:r>
            <a:r>
              <a:rPr lang="en-US" sz="10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pcapng</a:t>
            </a:r>
            <a:r>
              <a:rPr lang="en-US" sz="10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 format to save and read packet captures.</a:t>
            </a:r>
          </a:p>
          <a:p>
            <a:pPr marL="274320" indent="-292100">
              <a:lnSpc>
                <a:spcPct val="115000"/>
              </a:lnSpc>
              <a:buClr>
                <a:schemeClr val="dk1"/>
              </a:buClr>
              <a:buSzPts val="1000"/>
              <a:buFont typeface="Roboto"/>
              <a:buChar char="●"/>
            </a:pPr>
            <a:r>
              <a:rPr lang="pt-BR" sz="10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Both use </a:t>
            </a:r>
            <a:r>
              <a:rPr lang="pt-BR" sz="10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filters</a:t>
            </a:r>
            <a:r>
              <a:rPr lang="pt-BR" sz="10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pt-BR" sz="10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BPF</a:t>
            </a:r>
            <a:r>
              <a:rPr lang="pt-BR" sz="10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274320" indent="-292100">
              <a:lnSpc>
                <a:spcPct val="115000"/>
              </a:lnSpc>
              <a:buClr>
                <a:schemeClr val="dk1"/>
              </a:buClr>
              <a:buSzPts val="1000"/>
              <a:buFont typeface="Roboto"/>
              <a:buChar char="●"/>
            </a:pPr>
            <a:r>
              <a:rPr lang="en-US" sz="10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Both can capture and interpret protocols(</a:t>
            </a:r>
            <a:r>
              <a:rPr lang="pt-BR" sz="1000" b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TCP,UDP,ICMP,ARP,HTTP,DNS</a:t>
            </a:r>
            <a:r>
              <a:rPr lang="pt-BR" sz="10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,etc</a:t>
            </a:r>
            <a:r>
              <a:rPr lang="pt-BR" sz="10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.)</a:t>
            </a:r>
          </a:p>
          <a:p>
            <a:pPr marL="274320" indent="-292100">
              <a:lnSpc>
                <a:spcPct val="115000"/>
              </a:lnSpc>
              <a:buClr>
                <a:schemeClr val="dk1"/>
              </a:buClr>
              <a:buSzPts val="1000"/>
              <a:buFont typeface="Roboto"/>
              <a:buChar char="●"/>
            </a:pPr>
            <a:r>
              <a:rPr lang="en-US" sz="10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Both operate at the network and transport layers of the </a:t>
            </a:r>
            <a:r>
              <a:rPr lang="en-US" sz="10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OSI model</a:t>
            </a:r>
            <a:endParaRPr sz="10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" name="Google Shape;63;p13"/>
          <p:cNvSpPr txBox="1"/>
          <p:nvPr/>
        </p:nvSpPr>
        <p:spPr>
          <a:xfrm>
            <a:off x="5826169" y="2049864"/>
            <a:ext cx="2777700" cy="37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indent="-298450">
              <a:lnSpc>
                <a:spcPct val="115000"/>
              </a:lnSpc>
              <a:buClr>
                <a:schemeClr val="dk1"/>
              </a:buClr>
              <a:buSzPts val="1100"/>
              <a:buChar char="●"/>
            </a:pPr>
            <a:endParaRPr sz="11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" name="Google Shape;61;p13">
            <a:extLst>
              <a:ext uri="{FF2B5EF4-FFF2-40B4-BE49-F238E27FC236}">
                <a16:creationId xmlns:a16="http://schemas.microsoft.com/office/drawing/2014/main" id="{F4BA6AEB-BB16-4AB6-9F80-7AC801BE4650}"/>
              </a:ext>
            </a:extLst>
          </p:cNvPr>
          <p:cNvSpPr txBox="1"/>
          <p:nvPr/>
        </p:nvSpPr>
        <p:spPr>
          <a:xfrm>
            <a:off x="6548498" y="1926216"/>
            <a:ext cx="2923027" cy="2715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30200" indent="-171450">
              <a:lnSpc>
                <a:spcPct val="115000"/>
              </a:lnSpc>
              <a:buClr>
                <a:schemeClr val="dk1"/>
              </a:buClr>
              <a:buSzPts val="1100"/>
              <a:buFont typeface="Wingdings" panose="05000000000000000000" pitchFamily="2" charset="2"/>
              <a:buChar char="§"/>
            </a:pPr>
            <a:r>
              <a:rPr lang="pt-BR" sz="11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Interface:</a:t>
            </a:r>
            <a:r>
              <a:rPr lang="pt-BR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Command </a:t>
            </a:r>
            <a:r>
              <a:rPr lang="pt-BR" sz="11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Line</a:t>
            </a:r>
            <a:r>
              <a:rPr lang="pt-BR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(CLI)</a:t>
            </a:r>
          </a:p>
          <a:p>
            <a:pPr marL="330200" indent="-171450">
              <a:lnSpc>
                <a:spcPct val="115000"/>
              </a:lnSpc>
              <a:buClr>
                <a:schemeClr val="dk1"/>
              </a:buClr>
              <a:buSzPts val="1100"/>
              <a:buFont typeface="Wingdings" panose="05000000000000000000" pitchFamily="2" charset="2"/>
              <a:buChar char="§"/>
            </a:pPr>
            <a:r>
              <a:rPr lang="pt-BR" sz="1100" b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Visualization</a:t>
            </a:r>
            <a:r>
              <a:rPr lang="pt-BR" sz="11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Displays packages in text, in real time.</a:t>
            </a:r>
            <a:endParaRPr lang="pt-BR" sz="11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30200" indent="-171450">
              <a:lnSpc>
                <a:spcPct val="115000"/>
              </a:lnSpc>
              <a:buClr>
                <a:schemeClr val="dk1"/>
              </a:buClr>
              <a:buSzPts val="1100"/>
              <a:buFont typeface="Wingdings" panose="05000000000000000000" pitchFamily="2" charset="2"/>
              <a:buChar char="§"/>
            </a:pPr>
            <a:r>
              <a:rPr lang="pt-BR" sz="1100" b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Detail</a:t>
            </a:r>
            <a:r>
              <a:rPr lang="pt-BR" sz="11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pt-BR" sz="1100" b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Level</a:t>
            </a:r>
            <a:r>
              <a:rPr lang="pt-BR" sz="11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High (shows headers and raw data)</a:t>
            </a:r>
            <a:endParaRPr lang="pt-BR" sz="11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30200" indent="-171450">
              <a:lnSpc>
                <a:spcPct val="115000"/>
              </a:lnSpc>
              <a:buClr>
                <a:schemeClr val="dk1"/>
              </a:buClr>
              <a:buSzPts val="1100"/>
              <a:buFont typeface="Wingdings" panose="05000000000000000000" pitchFamily="2" charset="2"/>
              <a:buChar char="§"/>
            </a:pPr>
            <a:r>
              <a:rPr lang="pt-BR" sz="11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Post-capture </a:t>
            </a:r>
            <a:r>
              <a:rPr lang="pt-BR" sz="1100" b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analysis</a:t>
            </a:r>
            <a:r>
              <a:rPr lang="pt-BR" sz="11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r>
              <a:rPr lang="pt-BR" sz="11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Limited</a:t>
            </a:r>
            <a:r>
              <a:rPr lang="pt-BR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textual </a:t>
            </a:r>
            <a:r>
              <a:rPr lang="pt-BR" sz="11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analysis</a:t>
            </a:r>
            <a:r>
              <a:rPr lang="pt-BR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via </a:t>
            </a:r>
            <a:r>
              <a:rPr lang="pt-BR" sz="11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filters</a:t>
            </a:r>
            <a:r>
              <a:rPr lang="pt-BR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330200" indent="-171450">
              <a:lnSpc>
                <a:spcPct val="115000"/>
              </a:lnSpc>
              <a:buClr>
                <a:schemeClr val="dk1"/>
              </a:buClr>
              <a:buSzPts val="1100"/>
              <a:buFont typeface="Wingdings" panose="05000000000000000000" pitchFamily="2" charset="2"/>
              <a:buChar char="§"/>
            </a:pPr>
            <a:r>
              <a:rPr lang="pt-BR" sz="11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Capture </a:t>
            </a:r>
            <a:r>
              <a:rPr lang="pt-BR" sz="1100" b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filter</a:t>
            </a:r>
            <a:r>
              <a:rPr lang="pt-BR" sz="11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r>
              <a:rPr lang="pt-BR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Use </a:t>
            </a:r>
            <a:r>
              <a:rPr lang="pt-BR" sz="11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filters</a:t>
            </a:r>
            <a:r>
              <a:rPr lang="pt-BR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BPF.</a:t>
            </a:r>
          </a:p>
          <a:p>
            <a:pPr marL="330200" indent="-171450">
              <a:lnSpc>
                <a:spcPct val="115000"/>
              </a:lnSpc>
              <a:buClr>
                <a:schemeClr val="dk1"/>
              </a:buClr>
              <a:buSzPts val="1100"/>
              <a:buFont typeface="Wingdings" panose="05000000000000000000" pitchFamily="2" charset="2"/>
              <a:buChar char="§"/>
            </a:pPr>
            <a:r>
              <a:rPr lang="pt-BR" sz="11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Performance: </a:t>
            </a:r>
            <a:r>
              <a:rPr lang="en-US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Very lightweight, ideal for servers and headless environments</a:t>
            </a:r>
            <a:r>
              <a:rPr lang="pt-BR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330200" indent="-171450">
              <a:lnSpc>
                <a:spcPct val="115000"/>
              </a:lnSpc>
              <a:buClr>
                <a:schemeClr val="dk1"/>
              </a:buClr>
              <a:buSzPts val="1100"/>
              <a:buFont typeface="Wingdings" panose="05000000000000000000" pitchFamily="2" charset="2"/>
              <a:buChar char="§"/>
            </a:pPr>
            <a:r>
              <a:rPr lang="pt-BR" sz="1100" b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Typical</a:t>
            </a:r>
            <a:r>
              <a:rPr lang="pt-BR" sz="11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use</a:t>
            </a:r>
            <a:r>
              <a:rPr lang="pt-BR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r>
              <a:rPr lang="pt-BR" sz="11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Quick</a:t>
            </a:r>
            <a:r>
              <a:rPr lang="pt-BR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pt-BR" sz="11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diagnostics</a:t>
            </a:r>
            <a:r>
              <a:rPr lang="pt-BR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capture </a:t>
            </a:r>
            <a:r>
              <a:rPr lang="pt-BR" sz="11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on</a:t>
            </a:r>
            <a:r>
              <a:rPr lang="pt-BR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pt-BR" sz="11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</a:t>
            </a:r>
            <a:r>
              <a:rPr lang="pt-BR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servers.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209</Words>
  <Application>Microsoft Office PowerPoint</Application>
  <PresentationFormat>Personalizar</PresentationFormat>
  <Paragraphs>20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7" baseType="lpstr">
      <vt:lpstr>Arial</vt:lpstr>
      <vt:lpstr>Wingdings</vt:lpstr>
      <vt:lpstr>Segoe UI Web (West European)</vt:lpstr>
      <vt:lpstr>Google Sans</vt:lpstr>
      <vt:lpstr>Roboto</vt:lpstr>
      <vt:lpstr>Simple Light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Magno</dc:creator>
  <cp:lastModifiedBy>Magno</cp:lastModifiedBy>
  <cp:revision>6</cp:revision>
  <dcterms:modified xsi:type="dcterms:W3CDTF">2025-11-17T14:18:47Z</dcterms:modified>
</cp:coreProperties>
</file>