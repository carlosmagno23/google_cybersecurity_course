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799763" cy="6943725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747775"/>
          </p15:clr>
        </p15:guide>
        <p15:guide id="2" pos="340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40" d="100"/>
          <a:sy n="140" d="100"/>
        </p:scale>
        <p:origin x="-2778" y="-1356"/>
      </p:cViewPr>
      <p:guideLst>
        <p:guide orient="horz" pos="2187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685800"/>
            <a:ext cx="5334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685800"/>
            <a:ext cx="5334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68151" y="1005176"/>
            <a:ext cx="10063480" cy="27710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68142" y="3826069"/>
            <a:ext cx="10063480" cy="10700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68142" y="2903648"/>
            <a:ext cx="10063480" cy="11364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8142" y="600784"/>
            <a:ext cx="10063480" cy="773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8142" y="1555841"/>
            <a:ext cx="10063480" cy="4612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68142" y="600784"/>
            <a:ext cx="10063480" cy="773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68141" y="1555841"/>
            <a:ext cx="4724188" cy="4612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707434" y="1555841"/>
            <a:ext cx="4724188" cy="4612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68142" y="600784"/>
            <a:ext cx="10063480" cy="773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68141" y="750060"/>
            <a:ext cx="3316463" cy="10201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68141" y="1875960"/>
            <a:ext cx="3316463" cy="4292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79023" y="607703"/>
            <a:ext cx="7520859" cy="55225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99881" y="-169"/>
            <a:ext cx="5399882" cy="69437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39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3576" y="1664786"/>
            <a:ext cx="4777690" cy="20011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13576" y="3784151"/>
            <a:ext cx="4777690" cy="1667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833927" y="977501"/>
            <a:ext cx="4531790" cy="4988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68142" y="5711276"/>
            <a:ext cx="7085041" cy="8168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68142" y="1493269"/>
            <a:ext cx="10063480" cy="26507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68142" y="4255504"/>
            <a:ext cx="10063480" cy="1756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8142" y="600784"/>
            <a:ext cx="10063480" cy="77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8142" y="1555841"/>
            <a:ext cx="10063480" cy="4612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0006620" y="6295343"/>
            <a:ext cx="648057" cy="53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944867" y="457143"/>
            <a:ext cx="6137597" cy="5887509"/>
          </a:xfrm>
          <a:prstGeom prst="ellipse">
            <a:avLst/>
          </a:prstGeom>
          <a:solidFill>
            <a:srgbClr val="E6B8AF">
              <a:alpha val="38750"/>
            </a:srgbClr>
          </a:solidFill>
          <a:ln w="2857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535626" y="457198"/>
            <a:ext cx="6137541" cy="5887455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w="28575" cap="flat" cmpd="sng">
              <a:solidFill>
                <a:srgbClr val="A1C3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824201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" sz="1700" b="1" dirty="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sz="170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6633780" y="995634"/>
            <a:ext cx="1244127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170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sz="170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743031" y="1165603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634203" y="2736488"/>
            <a:ext cx="1229028" cy="45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844062" y="1929094"/>
            <a:ext cx="3174333" cy="290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Interface: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Interface gráfica (GUI)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Visualização: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Exibe pacotes em janelas, com decodificação por camadas</a:t>
            </a:r>
          </a:p>
          <a:p>
            <a:pPr marL="330200" lvl="4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Nível de detalhe: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Muito alto ( decodifica protocolos e exibe hierarquicamente).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Analise pós-captura: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Extensa: gráficos,</a:t>
            </a:r>
          </a:p>
          <a:p>
            <a:pPr marL="15875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estatísticas , reconstrução de </a:t>
            </a:r>
            <a:r>
              <a:rPr lang="pt-BR" sz="11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streams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Filtro de captura: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Além dos filtros BPF</a:t>
            </a:r>
            <a:b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 filtros de exibição mais complexos.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Desempenho: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Mais pesado, consome </a:t>
            </a:r>
          </a:p>
          <a:p>
            <a:pPr marL="15875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mais CPU e memória.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Uso típico: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Analise visual profunda,</a:t>
            </a:r>
          </a:p>
          <a:p>
            <a:pPr marL="15875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ensino e depuração de rede.</a:t>
            </a:r>
          </a:p>
          <a:p>
            <a:pPr marL="158750">
              <a:lnSpc>
                <a:spcPct val="115000"/>
              </a:lnSpc>
              <a:buClr>
                <a:schemeClr val="dk1"/>
              </a:buClr>
              <a:buSzPts val="1100"/>
            </a:pPr>
            <a:endParaRPr lang="pt-BR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387523" y="1906579"/>
            <a:ext cx="1958686" cy="266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4320" indent="-292100">
              <a:lnSpc>
                <a:spcPct val="115000"/>
              </a:lnSpc>
              <a:buClr>
                <a:schemeClr val="dk1"/>
              </a:buClr>
              <a:buSzPts val="1000"/>
              <a:buFont typeface="Roboto"/>
              <a:buChar char="●"/>
            </a:pP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Ambos usam o formato </a:t>
            </a:r>
            <a:r>
              <a:rPr lang="pt-B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pt-BR" sz="1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pcap</a:t>
            </a: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(ou </a:t>
            </a:r>
            <a:r>
              <a:rPr lang="pt-B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pt-BR" sz="1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pcapng</a:t>
            </a: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para salvar e ler capturas de pacotes.</a:t>
            </a:r>
          </a:p>
          <a:p>
            <a:pPr marL="274320" indent="-292100">
              <a:lnSpc>
                <a:spcPct val="115000"/>
              </a:lnSpc>
              <a:buClr>
                <a:schemeClr val="dk1"/>
              </a:buClr>
              <a:buSzPts val="1000"/>
              <a:buFont typeface="Roboto"/>
              <a:buChar char="●"/>
            </a:pP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Ambos utilizam filtros </a:t>
            </a:r>
            <a:r>
              <a:rPr lang="pt-B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BPF</a:t>
            </a: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274320" indent="-292100">
              <a:lnSpc>
                <a:spcPct val="115000"/>
              </a:lnSpc>
              <a:buClr>
                <a:schemeClr val="dk1"/>
              </a:buClr>
              <a:buSzPts val="1000"/>
              <a:buFont typeface="Roboto"/>
              <a:buChar char="●"/>
            </a:pP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Ambos conseguem capturar e interpretar protocolos </a:t>
            </a:r>
            <a:r>
              <a:rPr lang="pt-BR" sz="1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TCP,UDP,ICMP,ARP,HTTP,DNS</a:t>
            </a:r>
            <a:r>
              <a:rPr lang="pt-BR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,etc</a:t>
            </a: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274320" indent="-292100">
              <a:lnSpc>
                <a:spcPct val="115000"/>
              </a:lnSpc>
              <a:buClr>
                <a:schemeClr val="dk1"/>
              </a:buClr>
              <a:buSzPts val="1000"/>
              <a:buFont typeface="Roboto"/>
              <a:buChar char="●"/>
            </a:pP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Ambos operam nas camadas de rede e transporte do </a:t>
            </a:r>
            <a:r>
              <a:rPr lang="pt-B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 OSI</a:t>
            </a:r>
            <a:endParaRPr sz="10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826169" y="2049864"/>
            <a:ext cx="27777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61;p13">
            <a:extLst>
              <a:ext uri="{FF2B5EF4-FFF2-40B4-BE49-F238E27FC236}">
                <a16:creationId xmlns:a16="http://schemas.microsoft.com/office/drawing/2014/main" id="{F4BA6AEB-BB16-4AB6-9F80-7AC801BE4650}"/>
              </a:ext>
            </a:extLst>
          </p:cNvPr>
          <p:cNvSpPr txBox="1"/>
          <p:nvPr/>
        </p:nvSpPr>
        <p:spPr>
          <a:xfrm>
            <a:off x="6548498" y="1926216"/>
            <a:ext cx="2923027" cy="271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Interface: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Linha de comando (CLI)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Visualização: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Exibe pacotes em texto, em tempo real.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detalhe: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(mostra cabeçalhos e dados brutos)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Analise pós-captura: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Limitada, análise textual via filtros.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Filtro de captura: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Usa filtros BPF.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Desempenho: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Muito leve, ideal para servidores e ambientes </a:t>
            </a:r>
            <a:r>
              <a:rPr lang="pt-BR" sz="11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headless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330200" indent="-171450">
              <a:lnSpc>
                <a:spcPct val="115000"/>
              </a:lnSpc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pt-BR" sz="11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Uso típico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Diagnóstico rápido, captura em servidores remotos.</a:t>
            </a:r>
          </a:p>
          <a:p>
            <a:pPr marL="158750">
              <a:lnSpc>
                <a:spcPct val="115000"/>
              </a:lnSpc>
              <a:buClr>
                <a:schemeClr val="dk1"/>
              </a:buClr>
              <a:buSzPts val="1100"/>
            </a:pPr>
            <a:endParaRPr lang="pt-BR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217</Words>
  <Application>Microsoft Office PowerPoint</Application>
  <PresentationFormat>Personalizar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Wingdings</vt:lpstr>
      <vt:lpstr>Google Sans</vt:lpstr>
      <vt:lpstr>Arial</vt:lpstr>
      <vt:lpstr>Roboto</vt:lpstr>
      <vt:lpstr>Simple Light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Magno</dc:creator>
  <cp:lastModifiedBy>Magno</cp:lastModifiedBy>
  <cp:revision>5</cp:revision>
  <dcterms:modified xsi:type="dcterms:W3CDTF">2025-11-13T16:16:07Z</dcterms:modified>
</cp:coreProperties>
</file>