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Google Sans" panose="020B0604020202020204" charset="0"/>
      <p:regular r:id="rId5"/>
      <p:bold r:id="rId6"/>
      <p:italic r:id="rId7"/>
      <p:boldItalic r:id="rId8"/>
    </p:embeddedFont>
    <p:embeddedFont>
      <p:font typeface="Roboto" panose="02000000000000000000" pitchFamily="2" charset="0"/>
      <p:regular r:id="rId9"/>
      <p:bold r:id="rId10"/>
      <p:italic r:id="rId11"/>
      <p:boldItalic r:id="rId12"/>
    </p:embeddedFont>
    <p:embeddedFont>
      <p:font typeface="Source Sans Pro" panose="020B0503030403020204" pitchFamily="34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font" Target="fonts/font9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presProps" Target="presProps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9419f719b3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9419f719b3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rustotal.com/gui/search/attack_tactic%253ATA0005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virustotal.com/gui/ip-address/104.115.151.81" TargetMode="External"/><Relationship Id="rId4" Type="http://schemas.openxmlformats.org/officeDocument/2006/relationships/hyperlink" Target="https://www.virustotal.com/gui/domain/a.sinkhole.yourtrap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body" idx="1"/>
          </p:nvPr>
        </p:nvSpPr>
        <p:spPr>
          <a:xfrm>
            <a:off x="311700" y="419550"/>
            <a:ext cx="7684800" cy="92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" sz="1790" b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Has this file been identified as malicious? Explain why or why not.</a:t>
            </a:r>
            <a:endParaRPr sz="1790" b="1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endParaRPr sz="1790" b="1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endParaRPr sz="1790" b="1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311700" y="1060100"/>
            <a:ext cx="7538700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dirty="0">
                <a:solidFill>
                  <a:srgbClr val="434343"/>
                </a:solidFill>
              </a:rPr>
              <a:t>After analyzing the data provided by the website virus total after analyzing the HASH of the suspicious file, it was found that it is a malicious file, with the Popular threat label: "</a:t>
            </a:r>
            <a:r>
              <a:rPr lang="en-US" dirty="0" err="1">
                <a:solidFill>
                  <a:srgbClr val="434343"/>
                </a:solidFill>
              </a:rPr>
              <a:t>trojan.flagpro</a:t>
            </a:r>
            <a:r>
              <a:rPr lang="en-US" dirty="0">
                <a:solidFill>
                  <a:srgbClr val="434343"/>
                </a:solidFill>
              </a:rPr>
              <a:t>/</a:t>
            </a:r>
            <a:r>
              <a:rPr lang="en-US" dirty="0" err="1">
                <a:solidFill>
                  <a:srgbClr val="434343"/>
                </a:solidFill>
              </a:rPr>
              <a:t>fragtor</a:t>
            </a:r>
            <a:endParaRPr dirty="0">
              <a:solidFill>
                <a:srgbClr val="434343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14"/>
          <p:cNvGrpSpPr/>
          <p:nvPr/>
        </p:nvGrpSpPr>
        <p:grpSpPr>
          <a:xfrm>
            <a:off x="52400" y="399200"/>
            <a:ext cx="5417400" cy="4685400"/>
            <a:chOff x="52400" y="399200"/>
            <a:chExt cx="5417400" cy="4685400"/>
          </a:xfrm>
        </p:grpSpPr>
        <p:sp>
          <p:nvSpPr>
            <p:cNvPr id="61" name="Google Shape;61;p14"/>
            <p:cNvSpPr/>
            <p:nvPr/>
          </p:nvSpPr>
          <p:spPr>
            <a:xfrm>
              <a:off x="52400" y="399200"/>
              <a:ext cx="5417400" cy="46854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" name="Google Shape;62;p14"/>
            <p:cNvCxnSpPr/>
            <p:nvPr/>
          </p:nvCxnSpPr>
          <p:spPr>
            <a:xfrm>
              <a:off x="2174888" y="1426450"/>
              <a:ext cx="1162500" cy="0"/>
            </a:xfrm>
            <a:prstGeom prst="straightConnector1">
              <a:avLst/>
            </a:prstGeom>
            <a:noFill/>
            <a:ln w="28575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" name="Google Shape;63;p14"/>
            <p:cNvCxnSpPr/>
            <p:nvPr/>
          </p:nvCxnSpPr>
          <p:spPr>
            <a:xfrm>
              <a:off x="1714500" y="2214625"/>
              <a:ext cx="2094000" cy="0"/>
            </a:xfrm>
            <a:prstGeom prst="straightConnector1">
              <a:avLst/>
            </a:prstGeom>
            <a:noFill/>
            <a:ln w="28575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1269525" y="2976625"/>
              <a:ext cx="2970900" cy="0"/>
            </a:xfrm>
            <a:prstGeom prst="straightConnector1">
              <a:avLst/>
            </a:prstGeom>
            <a:noFill/>
            <a:ln w="28575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903063" y="3665615"/>
              <a:ext cx="3729900" cy="0"/>
            </a:xfrm>
            <a:prstGeom prst="straightConnector1">
              <a:avLst/>
            </a:prstGeom>
            <a:noFill/>
            <a:ln w="28575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484250" y="4351425"/>
              <a:ext cx="4541700" cy="0"/>
            </a:xfrm>
            <a:prstGeom prst="straightConnector1">
              <a:avLst/>
            </a:prstGeom>
            <a:noFill/>
            <a:ln w="28575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7" name="Google Shape;67;p14"/>
          <p:cNvSpPr txBox="1"/>
          <p:nvPr/>
        </p:nvSpPr>
        <p:spPr>
          <a:xfrm>
            <a:off x="2424313" y="863775"/>
            <a:ext cx="8055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TTPs</a:t>
            </a:r>
            <a:endParaRPr sz="1700" b="1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2411226" y="1578950"/>
            <a:ext cx="8055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Tools</a:t>
            </a:r>
            <a:endParaRPr sz="1700" b="1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1792100" y="2294125"/>
            <a:ext cx="19914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Network/host artifacts</a:t>
            </a:r>
            <a:endParaRPr sz="1700" b="1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1978962" y="3118675"/>
            <a:ext cx="2048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Domain names</a:t>
            </a:r>
            <a:endParaRPr sz="1700" b="1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1978962" y="3755325"/>
            <a:ext cx="2048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IP addresses</a:t>
            </a:r>
            <a:endParaRPr sz="1700" b="1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1978962" y="4457425"/>
            <a:ext cx="2048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Hash values</a:t>
            </a:r>
            <a:endParaRPr sz="1700" b="1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cxnSp>
        <p:nvCxnSpPr>
          <p:cNvPr id="73" name="Google Shape;73;p14"/>
          <p:cNvCxnSpPr/>
          <p:nvPr/>
        </p:nvCxnSpPr>
        <p:spPr>
          <a:xfrm>
            <a:off x="3153750" y="1086374"/>
            <a:ext cx="16947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4" name="Google Shape;74;p14"/>
          <p:cNvSpPr/>
          <p:nvPr/>
        </p:nvSpPr>
        <p:spPr>
          <a:xfrm>
            <a:off x="4848450" y="824324"/>
            <a:ext cx="2020500" cy="525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i="0" u="none" strike="noStrike" dirty="0">
                <a:solidFill>
                  <a:srgbClr val="FFFFFF"/>
                </a:solidFill>
                <a:effectLst/>
                <a:latin typeface="Source Sans Pro" panose="020B0503030403020204" pitchFamily="34" charset="0"/>
                <a:hlinkClick r:id="rId3"/>
              </a:rPr>
              <a:t>Defense </a:t>
            </a:r>
            <a:r>
              <a:rPr lang="pt-BR" sz="1400" b="1" i="0" u="none" strike="noStrike" dirty="0" err="1">
                <a:solidFill>
                  <a:srgbClr val="FFFFFF"/>
                </a:solidFill>
                <a:effectLst/>
                <a:latin typeface="Source Sans Pro" panose="020B0503030403020204" pitchFamily="34" charset="0"/>
                <a:hlinkClick r:id="rId3"/>
              </a:rPr>
              <a:t>Evasion</a:t>
            </a:r>
            <a:endParaRPr sz="1100" dirty="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cxnSp>
        <p:nvCxnSpPr>
          <p:cNvPr id="75" name="Google Shape;75;p14"/>
          <p:cNvCxnSpPr>
            <a:endCxn id="76" idx="1"/>
          </p:cNvCxnSpPr>
          <p:nvPr/>
        </p:nvCxnSpPr>
        <p:spPr>
          <a:xfrm>
            <a:off x="3578825" y="1801549"/>
            <a:ext cx="16947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14"/>
          <p:cNvSpPr/>
          <p:nvPr/>
        </p:nvSpPr>
        <p:spPr>
          <a:xfrm>
            <a:off x="5273525" y="1539499"/>
            <a:ext cx="2020500" cy="525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chemeClr val="dk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Roboto"/>
                <a:sym typeface="Roboto"/>
              </a:rPr>
              <a:t>Input capture</a:t>
            </a:r>
            <a:endParaRPr dirty="0">
              <a:solidFill>
                <a:schemeClr val="dk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Roboto"/>
              <a:sym typeface="Roboto"/>
            </a:endParaRPr>
          </a:p>
        </p:txBody>
      </p:sp>
      <p:cxnSp>
        <p:nvCxnSpPr>
          <p:cNvPr id="77" name="Google Shape;77;p14"/>
          <p:cNvCxnSpPr>
            <a:endCxn id="78" idx="1"/>
          </p:cNvCxnSpPr>
          <p:nvPr/>
        </p:nvCxnSpPr>
        <p:spPr>
          <a:xfrm>
            <a:off x="3986625" y="2571149"/>
            <a:ext cx="16947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" name="Google Shape;78;p14"/>
          <p:cNvSpPr/>
          <p:nvPr/>
        </p:nvSpPr>
        <p:spPr>
          <a:xfrm>
            <a:off x="5681325" y="2309099"/>
            <a:ext cx="2020500" cy="525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chemeClr val="tx1"/>
                </a:solidFill>
                <a:latin typeface="Source Sans Pro" panose="020B0503030403020204" pitchFamily="34" charset="0"/>
                <a:ea typeface="Roboto"/>
                <a:cs typeface="Roboto"/>
                <a:sym typeface="Roboto"/>
              </a:rPr>
              <a:t>HTTP </a:t>
            </a:r>
            <a:r>
              <a:rPr lang="pt-BR" dirty="0" err="1">
                <a:solidFill>
                  <a:schemeClr val="tx1"/>
                </a:solidFill>
                <a:latin typeface="Source Sans Pro" panose="020B0503030403020204" pitchFamily="34" charset="0"/>
                <a:ea typeface="Roboto"/>
                <a:cs typeface="Roboto"/>
                <a:sym typeface="Roboto"/>
              </a:rPr>
              <a:t>Requests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" name="Google Shape;79;p14"/>
          <p:cNvCxnSpPr>
            <a:cxnSpLocks/>
            <a:endCxn id="80" idx="1"/>
          </p:cNvCxnSpPr>
          <p:nvPr/>
        </p:nvCxnSpPr>
        <p:spPr>
          <a:xfrm>
            <a:off x="4524313" y="3222868"/>
            <a:ext cx="1528049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0" name="Google Shape;80;p14"/>
          <p:cNvSpPr/>
          <p:nvPr/>
        </p:nvSpPr>
        <p:spPr>
          <a:xfrm>
            <a:off x="6052362" y="2960818"/>
            <a:ext cx="2187151" cy="525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0" i="0" u="none" strike="noStrike" dirty="0">
                <a:solidFill>
                  <a:srgbClr val="FFFFFF"/>
                </a:solidFill>
                <a:effectLst/>
                <a:latin typeface="Source Sans Pro" panose="020B0503030403020204" pitchFamily="34" charset="0"/>
                <a:hlinkClick r:id="rId4"/>
              </a:rPr>
              <a:t>a.sinkhole.yourtrap.com</a:t>
            </a:r>
            <a:endParaRPr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" name="Google Shape;81;p14"/>
          <p:cNvCxnSpPr>
            <a:endCxn id="82" idx="1"/>
          </p:cNvCxnSpPr>
          <p:nvPr/>
        </p:nvCxnSpPr>
        <p:spPr>
          <a:xfrm>
            <a:off x="4835525" y="3977924"/>
            <a:ext cx="16947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2" name="Google Shape;82;p14"/>
          <p:cNvSpPr/>
          <p:nvPr/>
        </p:nvSpPr>
        <p:spPr>
          <a:xfrm>
            <a:off x="6530225" y="3715874"/>
            <a:ext cx="2020500" cy="525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dirty="0">
                <a:solidFill>
                  <a:srgbClr val="FFFFFF"/>
                </a:solidFill>
                <a:effectLst/>
                <a:latin typeface="Source Sans Pro" panose="020B0503030403020204" pitchFamily="34" charset="0"/>
                <a:hlinkClick r:id="rId5"/>
              </a:rPr>
              <a:t>104.115.151.81</a:t>
            </a:r>
            <a:endParaRPr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" name="Google Shape;83;p14"/>
          <p:cNvCxnSpPr/>
          <p:nvPr/>
        </p:nvCxnSpPr>
        <p:spPr>
          <a:xfrm>
            <a:off x="5211175" y="4680024"/>
            <a:ext cx="1605300" cy="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C2C2C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4" name="Google Shape;84;p14"/>
          <p:cNvSpPr/>
          <p:nvPr/>
        </p:nvSpPr>
        <p:spPr>
          <a:xfrm>
            <a:off x="5681326" y="4417974"/>
            <a:ext cx="3155650" cy="525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pt-BR" sz="1400" b="0" i="0" u="none" strike="noStrike" dirty="0">
                <a:solidFill>
                  <a:schemeClr val="tx1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pt-BR" sz="1400" b="0" i="0" u="none" strike="noStrike" dirty="0">
                <a:solidFill>
                  <a:schemeClr val="tx1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SHA-256: </a:t>
            </a:r>
            <a:br>
              <a:rPr lang="pt-BR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</a:br>
            <a:r>
              <a:rPr lang="pt-BR" sz="1400" b="0" i="0" dirty="0">
                <a:solidFill>
                  <a:schemeClr val="tx1"/>
                </a:solidFill>
                <a:effectLst/>
                <a:latin typeface="Source Sans Pro" panose="020B0503030403020204" pitchFamily="34" charset="0"/>
                <a:ea typeface="Source Sans Pro" panose="020B0503030403020204" pitchFamily="34" charset="0"/>
              </a:rPr>
              <a:t>54e6ea47eb04634d3e87fd7787e2136ccfbcc80ade34f246a12cf93bab527f6b</a:t>
            </a:r>
            <a:endParaRPr sz="110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86</Words>
  <Application>Microsoft Office PowerPoint</Application>
  <PresentationFormat>Apresentação na tela (16:9)</PresentationFormat>
  <Paragraphs>14</Paragraphs>
  <Slides>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7" baseType="lpstr">
      <vt:lpstr>Google Sans</vt:lpstr>
      <vt:lpstr>Arial</vt:lpstr>
      <vt:lpstr>Source Sans Pro</vt:lpstr>
      <vt:lpstr>Roboto</vt:lpstr>
      <vt:lpstr>Simple Light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Magno</dc:creator>
  <cp:lastModifiedBy>Magno</cp:lastModifiedBy>
  <cp:revision>5</cp:revision>
  <dcterms:modified xsi:type="dcterms:W3CDTF">2025-11-17T14:20:34Z</dcterms:modified>
</cp:coreProperties>
</file>